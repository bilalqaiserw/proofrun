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1262695cec424d" /><Relationship Type="http://schemas.openxmlformats.org/officeDocument/2006/relationships/extended-properties" Target="/docProps/app.xml" Id="Ra5f0cfe4f2514508" /><Relationship Type="http://schemas.openxmlformats.org/officeDocument/2006/relationships/officeDocument" Target="/ppt/presentation.xml" Id="R72df4fe4e2b4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4fbd2b340443c2"/>
  </p:sldMasterIdLst>
  <p:notesMasterIdLst>
    <p:notesMasterId xmlns:r="http://schemas.openxmlformats.org/officeDocument/2006/relationships" r:id="Raea6d1f554404a7d"/>
  </p:notesMasterIdLst>
  <p:sldIdLst>
    <p:sldId xmlns:r="http://schemas.openxmlformats.org/officeDocument/2006/relationships" id="256" r:id="R382991119e794f87"/>
    <p:sldId xmlns:r="http://schemas.openxmlformats.org/officeDocument/2006/relationships" id="257" r:id="R44355425be064992"/>
    <p:sldId xmlns:r="http://schemas.openxmlformats.org/officeDocument/2006/relationships" id="258" r:id="Rf17e004638474ae6"/>
    <p:sldId xmlns:r="http://schemas.openxmlformats.org/officeDocument/2006/relationships" id="259" r:id="R76449f0e809e4f34"/>
    <p:sldId xmlns:r="http://schemas.openxmlformats.org/officeDocument/2006/relationships" id="260" r:id="R54f85b8f7aa144f1"/>
    <p:sldId xmlns:r="http://schemas.openxmlformats.org/officeDocument/2006/relationships" id="261" r:id="Rd2483e2992f54315"/>
    <p:sldId xmlns:r="http://schemas.openxmlformats.org/officeDocument/2006/relationships" id="262" r:id="R96cf8788fc0443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68ba47170348c5" /><Relationship Type="http://schemas.openxmlformats.org/officeDocument/2006/relationships/slideMaster" Target="/ppt/slideMasters/slideMaster1.xml" Id="R3a4fbd2b340443c2" /><Relationship Type="http://schemas.openxmlformats.org/officeDocument/2006/relationships/notesMaster" Target="/ppt/notesMasters/notesMaster1.xml" Id="Raea6d1f554404a7d" /><Relationship Type="http://schemas.openxmlformats.org/officeDocument/2006/relationships/presProps" Target="/ppt/presProps.xml" Id="Rb2f0d3b6e69c4eaf" /><Relationship Type="http://schemas.openxmlformats.org/officeDocument/2006/relationships/tableStyles" Target="/ppt/tableStyles.xml" Id="R8d7a32e748b646fe" /><Relationship Type="http://schemas.openxmlformats.org/officeDocument/2006/relationships/slide" Target="/ppt/slides/slide1.xml" Id="R382991119e794f87" /><Relationship Type="http://schemas.openxmlformats.org/officeDocument/2006/relationships/slide" Target="/ppt/slides/slide2.xml" Id="R44355425be064992" /><Relationship Type="http://schemas.openxmlformats.org/officeDocument/2006/relationships/slide" Target="/ppt/slides/slide3.xml" Id="Rf17e004638474ae6" /><Relationship Type="http://schemas.openxmlformats.org/officeDocument/2006/relationships/slide" Target="/ppt/slides/slide4.xml" Id="R76449f0e809e4f34" /><Relationship Type="http://schemas.openxmlformats.org/officeDocument/2006/relationships/slide" Target="/ppt/slides/slide5.xml" Id="R54f85b8f7aa144f1" /><Relationship Type="http://schemas.openxmlformats.org/officeDocument/2006/relationships/slide" Target="/ppt/slides/slide6.xml" Id="Rd2483e2992f54315" /><Relationship Type="http://schemas.openxmlformats.org/officeDocument/2006/relationships/slide" Target="/ppt/slides/slide7.xml" Id="R96cf8788fc0443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2f1b31da9a4f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71f94a0bde45ac" /><Relationship Type="http://schemas.openxmlformats.org/officeDocument/2006/relationships/notesMaster" Target="/ppt/notesMasters/notesMaster1.xml" Id="R29df9f1736a74a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307409e3b74c97" /><Relationship Type="http://schemas.openxmlformats.org/officeDocument/2006/relationships/notesMaster" Target="/ppt/notesMasters/notesMaster1.xml" Id="R751900b6b27b49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3d475ba16e4e62" /><Relationship Type="http://schemas.openxmlformats.org/officeDocument/2006/relationships/notesMaster" Target="/ppt/notesMasters/notesMaster1.xml" Id="R80526b1a544742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9e4973e7ed4920" /><Relationship Type="http://schemas.openxmlformats.org/officeDocument/2006/relationships/notesMaster" Target="/ppt/notesMasters/notesMaster1.xml" Id="R34147356b18e4a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8130166b5b4f67" /><Relationship Type="http://schemas.openxmlformats.org/officeDocument/2006/relationships/notesMaster" Target="/ppt/notesMasters/notesMaster1.xml" Id="R91cc278d113f43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5c64d9c51b4102" /><Relationship Type="http://schemas.openxmlformats.org/officeDocument/2006/relationships/notesMaster" Target="/ppt/notesMasters/notesMaster1.xml" Id="R053a8401eb6446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9a4c51e20547cc" /><Relationship Type="http://schemas.openxmlformats.org/officeDocument/2006/relationships/notesMaster" Target="/ppt/notesMasters/notesMaster1.xml" Id="R79b0511cc79246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0–8 seconds. ProofRun is an AI software QA workspace powered by IBM Bob. It tests a running application and proposes repairs that I approve. Continue to the problem and then show the actual application. Design reference: earlier ProofRun-pitch-v2.pptx, retaining Arial, 16:9 and the cream/green palette.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8–18 seconds. A passing unit suite can miss a documented boundary. This is the deliberately faulty bundled Shipping Service, not a production customer. Orders at $100 should ship free. Actual API and browser tests found the delivery charge. Evidence: examples/shipping-service/README.md and docs/evidence/checkout-before.png. Show the real failing test in the application after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18–30 seconds, followed by the live product. I provide the folder. Bob explains its purpose and proposes the environment and practical checks. Docker executes the software and collects observations. I review source diffs and explicitly approve the remaining batch. Main repair action applies compatible pending proposals and starts one unchanged verification run. Sources: PROJECT.md, src/qa/engine.ts, src/qa/docker.ts, src/qa/fixes.ts. Bob cannot directly execute unrestricted host commands.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the live Issues/diff/approval interaction. The fix changes the boundary condition from subtotal &gt; 100 to subtotal &gt;= 100. Screenshot is a real capture after explicit approval on the managed audit copy. The original example remains deliberately faulty. The application preserves the original tests and checks for regressions. Sources: docs/evidence/checkout-after.png and docs/evidence/live-audit-verification.json. This earlier audit retest took 68.2 seconds; label compression if you use that recording. Your current generated set and elapsed time may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79–85 seconds, or use as an appendix while the video remains focused on the live app. During development I used Bob IDE to improve the Markdown report-download workflow. The authentic task summary shows the ProofRun workspace, 2/2 tasks complete, five files changed and 5.19 Bobcoins. Do not claim this screenshot documents other tasks. Runtime: src/qa/bob.ts invokes Bob Shell Ask mode with BOBSHELL_API_KEY held on the server. It disables file/edit/execute/MCP/skill/subagent tools. Bob explains source, generates tests, diagnoses observed evidence, proposes patches and formats the report. Screenshot: bob_sessions/proofrun_task01_markdown_report_summary.png. Official usage guidance: https://lablab-ibm-bob-2-hackathon-guide.s3.us.cloud-object-storage.appdomain.cloud/index.html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85–90 seconds or leave this slide visible behind the closing narration. These measurements describe the labelled checkout fixture and a separate orchestration suite. Historical real Bob + Docker + Chromium audit: 11 saved checks, 9 passing and 2 failing before repair; 11 passing and 0 failing after approval; 0 regressions, contracts unchanged. Current orchestration suite: 40 automated tests pass using explicit fixture reasoning with actual owned HTTP and child process execution. It is not 40 live AI-generated checks. Sources: docs/evidence/live-audit-verification.json and docs/evidence/current-regression-verification.json. Keep unsupported repositories and bounded coverage visible on the appendix.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Appendix. Not required in the 90-second narration. Source intake accepts varied extensions and repository structures, up to 2,000 files and 128 MB. Runtime execution depends on server-configured trusted Linux images. Supported runtime categories include Node/TypeScript, Python, Go, Rust, Java, .NET, Ruby, PHP and C/C++. Desktop/mobile/hardware/private services require adapters or fixtures. AI source context is bounded. Root-cause claims are inferences. No guarantee of finding every defect. Startup/incomplete/environment failures are not passes. Container isolation shares the host kernel; run unknown code on a dedicated execution host. Setup: SETUP.md.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9412d642a46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dd87504b484016" /><Relationship Type="http://schemas.openxmlformats.org/officeDocument/2006/relationships/slideLayout" Target="/ppt/slideLayouts/slideLayout1.xml" Id="R0bb1cb1379ae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b1cb1379ae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45bf8ab11406c" /><Relationship Type="http://schemas.openxmlformats.org/officeDocument/2006/relationships/notesSlide" Target="/ppt/notesSlides/notesSlide1.xml" Id="Rff504d734cb949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cbf950c524978" /><Relationship Type="http://schemas.openxmlformats.org/officeDocument/2006/relationships/image" Target="/ppt/media/image.png" Id="R37eec3054cc14b00" /><Relationship Type="http://schemas.openxmlformats.org/officeDocument/2006/relationships/notesSlide" Target="/ppt/notesSlides/notesSlide2.xml" Id="R1bb7c52943d542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dad549b02401a" /><Relationship Type="http://schemas.openxmlformats.org/officeDocument/2006/relationships/notesSlide" Target="/ppt/notesSlides/notesSlide3.xml" Id="R89c9edba827448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b4e462af64949" /><Relationship Type="http://schemas.openxmlformats.org/officeDocument/2006/relationships/image" Target="/ppt/media/image2.png" Id="Rbdc4d36124014db8" /><Relationship Type="http://schemas.openxmlformats.org/officeDocument/2006/relationships/notesSlide" Target="/ppt/notesSlides/notesSlide4.xml" Id="R3ec7c0eb130345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5147a4050436e" /><Relationship Type="http://schemas.openxmlformats.org/officeDocument/2006/relationships/image" Target="/ppt/media/image3.png" Id="R0f35e8af416e4d34" /><Relationship Type="http://schemas.openxmlformats.org/officeDocument/2006/relationships/notesSlide" Target="/ppt/notesSlides/notesSlide5.xml" Id="Re263761030e746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1d947a4b74b10" /><Relationship Type="http://schemas.openxmlformats.org/officeDocument/2006/relationships/notesSlide" Target="/ppt/notesSlides/notesSlide6.xml" Id="Rcc3d89f8ca5940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07407ade547ec" /><Relationship Type="http://schemas.openxmlformats.org/officeDocument/2006/relationships/notesSlide" Target="/ppt/notesSlides/notesSlide7.xml" Id="R7661afcb14204a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1AE19-BD2B-4EEC-8CE3-53035E18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10706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15547"/>
                </a:solidFill>
                <a:latin typeface="Arial"/>
                <a:ea typeface="Arial"/>
                <a:cs typeface="Arial"/>
              </a:rPr>
              <a:t>ProofRun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BD14C-4BD0-4518-9F96-57CB8247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0706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Practical application testing</a:t>
            </a:r>
          </a:p>
          <a:p xmlns:a="http://schemas.openxmlformats.org/drawingml/2006/main">
            <a:pPr>
              <a:defRPr sz="3825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with repairs you approve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26186-B1AA-4F46-90BF-8FB17743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0706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An AI software QA workspace powered by IBM Bob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3338D-809A-44BB-AD25-74B044A3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IBM Bob 2.0 Hackathon 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99720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2E57E-7B5E-4445-9997-65D2A9EE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0706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The missed 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36DE2-9BE6-4969-B5AE-389804BD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244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Existing unit tests pass.</a:t>
            </a:r>
          </a:p>
          <a:p xmlns:a="http://schemas.openxmlformats.org/drawingml/2006/main">
            <a:pPr>
              <a:defRPr sz="2325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Exactly $100 still pays delivery.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F0130-2D53-4FF7-8E04-2DFE3152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Documented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9F1A0-4E01-4445-BCB3-88DDBF0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15547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8DCC3-C675-4BAE-93D2-415BB24D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Observed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C4D59-300C-441D-9D10-80509840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A8483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A84838"/>
                </a:solidFill>
                <a:latin typeface="Arial"/>
                <a:ea typeface="Arial"/>
                <a:cs typeface="Arial"/>
              </a:rPr>
              <a:t>$5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ec3054cc14b00"/>
          <a:stretch xmlns:a="http://schemas.openxmlformats.org/drawingml/2006/main"/>
        </p:blipFill>
        <p:spPr>
          <a:xfrm xmlns:a="http://schemas.openxmlformats.org/drawingml/2006/main">
            <a:off x="5953125" y="1944291"/>
            <a:ext cx="5600700" cy="31503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EE4BB-99D1-4AEE-9ACC-AFA98877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Deliberately seeded checkout fixture. Real browser capture.</a:t>
            </a:r>
          </a:p>
        </p:txBody>
      </p:sp>
    </p:spTree>
    <p:extLst>
      <p:ext uri="{BB962C8B-B14F-4D97-AF65-F5344CB8AC3E}">
        <p14:creationId xmlns:p14="http://schemas.microsoft.com/office/powerpoint/2010/main" val="1231960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08B4C-303E-439F-8E5C-DDF9ADB7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0706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One testing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6152F-D90E-4009-96D0-5F36F9C7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1554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0892B-C382-459A-B451-6D408DD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Understand the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15E3C-1027-4535-A6A0-A8B4F4A1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32385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Bob reads bounded source context and proposes setup and practical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8CEBF-4BC8-49CF-BEEB-FFCF3F62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1554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8FB56-6B4E-4573-ADF6-09C1DAD1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Observe real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C7E7F-7704-4DD0-A6DB-8F1FB222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32385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Docker runs HTTP, browser or CLI workflows and records the triggering inputs.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D7077-88F9-4029-A398-9D954D3F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1554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1290C-BA5B-4762-90B1-F37FD318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194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Approve and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AA03F-4ABE-4226-B3A7-8063DF1B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2385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Review diffs, approve pending fixes, then rerun the original tests once.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C39E6-A069-4CC0-8CA4-EE7424F1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The report preserves requests, logs, expected results and observed outcomes.</a:t>
            </a:r>
          </a:p>
        </p:txBody>
      </p:sp>
    </p:spTree>
    <p:extLst>
      <p:ext uri="{BB962C8B-B14F-4D97-AF65-F5344CB8AC3E}">
        <p14:creationId xmlns:p14="http://schemas.microsoft.com/office/powerpoint/2010/main" val="394337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AA2E2-0480-4344-91D2-3F2E5FDD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0706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A repair with repeatable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159AB-442B-4510-8FEA-ACF81FED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A documented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D7001-13FE-418F-B13F-CFE4A326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8483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84838"/>
                </a:solidFill>
                <a:latin typeface="Arial"/>
                <a:ea typeface="Arial"/>
                <a:cs typeface="Arial"/>
              </a:rPr>
              <a:t>subtotal &gt; 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1A396-5575-4375-A382-DF0A4C65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547"/>
                </a:solidFill>
                <a:latin typeface="Arial"/>
                <a:ea typeface="Arial"/>
                <a:cs typeface="Arial"/>
              </a:rPr>
              <a:t>subtotal &gt;=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7660F-CC49-458A-9AFD-0DFE5888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Explicit approval changes the managed copy.</a:t>
            </a:r>
          </a:p>
          <a:p xmlns:a="http://schemas.openxmlformats.org/drawingml/2006/main">
            <a:pPr>
              <a:defRPr sz="202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The original project stays untouched.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4d36124014db8"/>
          <a:stretch xmlns:a="http://schemas.openxmlformats.org/drawingml/2006/main"/>
        </p:blipFill>
        <p:spPr>
          <a:xfrm xmlns:a="http://schemas.openxmlformats.org/drawingml/2006/main">
            <a:off x="5953125" y="1944291"/>
            <a:ext cx="5600700" cy="31503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6D063-BF98-4C0D-AEA9-4D6DE78D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Unchanged saved checks verify the repair and reveal regressions.</a:t>
            </a:r>
          </a:p>
        </p:txBody>
      </p:sp>
    </p:spTree>
    <p:extLst>
      <p:ext uri="{BB962C8B-B14F-4D97-AF65-F5344CB8AC3E}">
        <p14:creationId xmlns:p14="http://schemas.microsoft.com/office/powerpoint/2010/main" val="5554675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0F3DF-BE46-4AAF-8E44-9A663858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0706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IBM Bob in development and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47CAD-3268-47BB-B566-7139E147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6038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5547"/>
                </a:solidFill>
                <a:latin typeface="Arial"/>
                <a:ea typeface="Arial"/>
                <a:cs typeface="Arial"/>
              </a:rPr>
              <a:t>Bob 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3D2AF-55F1-42D0-928E-89C7D1D2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0388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A completed development task improved</a:t>
            </a:r>
          </a:p>
          <a:p xmlns:a="http://schemas.openxmlformats.org/drawingml/2006/main">
            <a:pPr>
              <a:defRPr sz="210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the readable Markdown report download.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80334-9B70-48B2-AF9B-339202D8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038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5547"/>
                </a:solidFill>
                <a:latin typeface="Arial"/>
                <a:ea typeface="Arial"/>
                <a:cs typeface="Arial"/>
              </a:rPr>
              <a:t>Bob Shell with an inference key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38EF6-6A52-485E-A1C4-FAAD008C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6038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Project understanding, test proposals,</a:t>
            </a:r>
          </a:p>
          <a:p xmlns:a="http://schemas.openxmlformats.org/drawingml/2006/main">
            <a:pPr>
              <a:defRPr sz="202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failure analysis and source diffs.</a:t>
            </a:r>
          </a:p>
          <a:p xmlns:a="http://schemas.openxmlformats.org/drawingml/2006/main">
            <a:pPr>
              <a:defRPr sz="202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Docker handles execution separately.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5e8af416e4d34"/>
          <a:stretch xmlns:a="http://schemas.openxmlformats.org/drawingml/2006/main"/>
        </p:blipFill>
        <p:spPr>
          <a:xfrm xmlns:a="http://schemas.openxmlformats.org/drawingml/2006/main">
            <a:off x="7488460" y="1581150"/>
            <a:ext cx="3977831" cy="4486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356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15576-F7AB-488A-BA7B-6C20743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0706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Measured verification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42950" y="1962150"/>
          <a:ext xmlns:a="http://schemas.openxmlformats.org/drawingml/2006/main" cx="10706100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781300"/>
                <a:gridCol w="2781300"/>
              </a:tblGrid>
              <a:tr h="6405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52A2A"/>
                          </a:solidFill>
                          <a:latin typeface="Arial"/>
                          <a:ea typeface="Arial"/>
                          <a:cs typeface="Arial"/>
                        </a:rPr>
                        <a:t>Checkout checks</a:t>
                      </a:r>
                    </a:p>
                  </a:txBody>
                  <a:tcPr marL="91440" marR="91440" marT="45720" marB="45720">
                    <a:solidFill>
                      <a:srgbClr val="E7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52A2A"/>
                          </a:solidFill>
                          <a:latin typeface="Arial"/>
                          <a:ea typeface="Arial"/>
                          <a:cs typeface="Arial"/>
                        </a:rPr>
                        <a:t>Before approval</a:t>
                      </a:r>
                    </a:p>
                  </a:txBody>
                  <a:tcPr marL="91440" marR="91440" marT="45720" marB="45720">
                    <a:solidFill>
                      <a:srgbClr val="E7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15547"/>
                          </a:solidFill>
                          <a:latin typeface="Arial"/>
                          <a:ea typeface="Arial"/>
                          <a:cs typeface="Arial"/>
                        </a:rPr>
                        <a:t>After repair</a:t>
                      </a:r>
                    </a:p>
                  </a:txBody>
                  <a:tcPr marL="91440" marR="91440" marT="45720" marB="45720">
                    <a:solidFill>
                      <a:srgbClr val="E7EBE0"/>
                    </a:solidFill>
                  </a:tcPr>
                </a:tc>
              </a:tr>
              <a:tr h="6405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2A2A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2A2A"/>
                          </a:solidFill>
                          <a:latin typeface="Arial"/>
                          <a:ea typeface="Arial"/>
                          <a:cs typeface="Arial"/>
                        </a:rPr>
                        <a:t>9 / 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15547"/>
                          </a:solidFill>
                          <a:latin typeface="Arial"/>
                          <a:ea typeface="Arial"/>
                          <a:cs typeface="Arial"/>
                        </a:rPr>
                        <a:t>11 / 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5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2A2A"/>
                          </a:solidFill>
                          <a:latin typeface="Arial"/>
                          <a:ea typeface="Arial"/>
                          <a:cs typeface="Arial"/>
                        </a:rPr>
                        <a:t>Failed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2A2A"/>
                          </a:solidFill>
                          <a:latin typeface="Arial"/>
                          <a:ea typeface="Arial"/>
                          <a:cs typeface="Arial"/>
                        </a:rPr>
                        <a:t>2 / 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15547"/>
                          </a:solidFill>
                          <a:latin typeface="Arial"/>
                          <a:ea typeface="Arial"/>
                          <a:cs typeface="Arial"/>
                        </a:rPr>
                        <a:t>0 / 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5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2A2A"/>
                          </a:solidFill>
                          <a:latin typeface="Arial"/>
                          <a:ea typeface="Arial"/>
                          <a:cs typeface="Arial"/>
                        </a:rPr>
                        <a:t>New regressions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2A2A"/>
                          </a:solidFill>
                          <a:latin typeface="Arial"/>
                          <a:ea typeface="Arial"/>
                          <a:cs typeface="Arial"/>
                        </a:rPr>
                        <a:t>Not applicable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155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33686-81C6-4D5D-9BCD-0FEC2CB8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706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5547"/>
                </a:solidFill>
                <a:latin typeface="Arial"/>
                <a:ea typeface="Arial"/>
                <a:cs typeface="Arial"/>
              </a:rPr>
              <a:t>40 orchestration regression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9883F-0404-4B4D-A24C-E81D971C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Live checkout evidence and fixture orchestration results are separate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2053150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565F1-B165-49FA-97EC-B9412D3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10706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Supported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66135-58F8-4CE2-B059-410FD52A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5334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5547"/>
                </a:solidFill>
                <a:latin typeface="Arial"/>
                <a:ea typeface="Arial"/>
                <a:cs typeface="Arial"/>
              </a:rPr>
              <a:t>Configured Linux runtimes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F8E50-78BC-48E9-99F5-6E018C5C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Web/API applications and CLI programs.</a:t>
            </a:r>
          </a:p>
          <a:p xmlns:a="http://schemas.openxmlformats.org/drawingml/2006/main">
            <a:pPr>
              <a:defRPr sz="210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Browser checks capture actual user interactions.</a:t>
            </a:r>
          </a:p>
          <a:p xmlns:a="http://schemas.openxmlformats.org/drawingml/2006/main">
            <a:pPr>
              <a:defRPr sz="210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Disposable databases when supported.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CFC9A-23E7-4BDE-BDDA-4610BC32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47850"/>
            <a:ext cx="4743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55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15547"/>
                </a:solidFill>
                <a:latin typeface="Arial"/>
                <a:ea typeface="Arial"/>
                <a:cs typeface="Arial"/>
              </a:rPr>
              <a:t>Reported coverage gaps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DDDE5-240A-4A3D-BA21-E0103092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4743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Private infrastructure and native apps</a:t>
            </a:r>
          </a:p>
          <a:p xmlns:a="http://schemas.openxmlformats.org/drawingml/2006/main">
            <a:pPr>
              <a:defRPr sz="210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need execution adapters or fixtures.</a:t>
            </a:r>
          </a:p>
          <a:p xmlns:a="http://schemas.openxmlformats.org/drawingml/2006/main">
            <a:pPr>
              <a:defRPr sz="2100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Undocumented behavior remains uncertain.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5E3CE-937F-41F2-916A-B2AE69B2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10706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2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2A2A"/>
                </a:solidFill>
                <a:latin typeface="Arial"/>
                <a:ea typeface="Arial"/>
                <a:cs typeface="Arial"/>
              </a:rPr>
              <a:t>Every finding retains evidence. Every source change requires approval.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76969-57AA-42B7-8091-D56AD869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9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96D"/>
                </a:solidFill>
                <a:latin typeface="Arial"/>
                <a:ea typeface="Arial"/>
                <a:cs typeface="Arial"/>
              </a:rPr>
              <a:t>Local developer tool. Bounded coverage. No claim to certify arbitrary software.</a:t>
            </a:r>
          </a:p>
        </p:txBody>
      </p:sp>
    </p:spTree>
    <p:extLst>
      <p:ext uri="{BB962C8B-B14F-4D97-AF65-F5344CB8AC3E}">
        <p14:creationId xmlns:p14="http://schemas.microsoft.com/office/powerpoint/2010/main" val="314015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2026-09-27T12:39:11.7340000Z</dcterms:created>
  <dcterms:modified xsi:type="dcterms:W3CDTF">2026-09-27T12:39:11.7340000Z</dcterms:modified>
</coreProperties>
</file>